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201400" cy="580644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580644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749808"/>
            <a:ext cx="1051560" cy="880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74519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11233A"/>
                </a:solidFill>
                <a:latin typeface="Aptos"/>
              </a:rPr>
              <a:t>DineIQ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10332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4E74"/>
                </a:solidFill>
                <a:latin typeface="Aptos"/>
              </a:rPr>
              <a:t>MenuMatrix Dining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32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87784"/>
                </a:solidFill>
                <a:latin typeface="Aptos"/>
              </a:rPr>
              <a:t>Data Science Intelligence 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Data Miners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103327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1233A"/>
                </a:solidFill>
                <a:latin typeface="Aptos"/>
              </a:rPr>
              <a:t>Al-Nasser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F3B"/>
                </a:solidFill>
                <a:latin typeface="Aptos"/>
              </a:rPr>
              <a:t>From Raw Data to Decision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02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Why are sales alone not enough?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3375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347472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2"/>
            <a:ext cx="2953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01  What do we see?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67712"/>
            <a:ext cx="295351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An item is the best seller.
But this alone does not tell us about profit, waste, or the impact of discounts.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3375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91640"/>
            <a:ext cx="64008" cy="347472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1856232"/>
            <a:ext cx="2953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02  What do we need?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267712"/>
            <a:ext cx="295351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We connect orders with price, cost, ratings, promotions, location, and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91640"/>
            <a:ext cx="33375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64008" cy="3474720"/>
          </a:xfrm>
          <a:prstGeom prst="rect">
            <a:avLst/>
          </a:prstGeom>
          <a:solidFill>
            <a:srgbClr val="41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8" y="1856232"/>
            <a:ext cx="2953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03  What does this produce?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267712"/>
            <a:ext cx="2953512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Restaurant Intelligence: interpreting performance and supporting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233A"/>
                </a:solidFill>
                <a:latin typeface="Aptos"/>
              </a:rPr>
              <a:t>DineIQ does not simply add charts; it builds an evidence chain from data to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From Data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03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From Data to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The system is built as an interconnected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64008" cy="242316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27432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8778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40280" y="2011680"/>
            <a:ext cx="64008" cy="242316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Data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27432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87784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86200" y="2011680"/>
            <a:ext cx="64008" cy="242316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8736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7432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87784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3212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32120" y="2011680"/>
            <a:ext cx="64008" cy="242316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3328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27432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87784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178040" y="2011680"/>
            <a:ext cx="64008" cy="242316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7920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9367" y="27432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87784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23960" y="2011680"/>
            <a:ext cx="64008" cy="242316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2512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5288" y="2743200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87784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2011680"/>
            <a:ext cx="1481328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469880" y="2011680"/>
            <a:ext cx="64008" cy="242316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71048" y="217627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Application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71048" y="2587752"/>
            <a:ext cx="1097280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Application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1627632"/>
            <a:ext cx="1481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6A52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Dataset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Dataset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Actual documented figures in the current 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1,066,785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86584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Order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100,000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86584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86584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43983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Menu Items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49039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88620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43983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Locations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49039"/>
            <a:ext cx="33375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886200"/>
            <a:ext cx="30632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100,518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43983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Ratings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05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Before we trust the analysis, we test the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429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425196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2"/>
            <a:ext cx="3044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15 Quality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67712"/>
            <a:ext cx="3044952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Missing values
Duplicates
Invalid prices
Negative quantities
Invalid dates &amp; ratings
Invalid locations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29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64008" cy="4251960"/>
          </a:xfrm>
          <a:prstGeom prst="rect">
            <a:avLst/>
          </a:prstGeom>
          <a:solidFill>
            <a:srgbClr val="AB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2"/>
            <a:ext cx="3044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Key Figures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67712"/>
            <a:ext cx="3044952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32F3B"/>
                </a:solidFill>
                <a:latin typeface="Aptos"/>
              </a:rPr>
              <a:t>5,588 missing values
10,575 duplicate order lines
2,393 negative quantities
5,328 incorrect discounts
5,020 cancelled orders
23 impossible waste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4290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64008" cy="4251960"/>
          </a:xfrm>
          <a:prstGeom prst="rect">
            <a:avLst/>
          </a:prstGeom>
          <a:solidFill>
            <a:srgbClr val="41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1856232"/>
            <a:ext cx="3044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The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267712"/>
            <a:ext cx="3044952" cy="3538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No silent deletion.
Every treatment has a Rule.
Some records are placed in Quarantine instead of being deleted without a trace.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Big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Big Data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Project layers from source to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572768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1572768"/>
            <a:ext cx="109728" cy="475488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6A52A"/>
                </a:solidFill>
                <a:latin typeface="Aptos"/>
              </a:rPr>
              <a:t>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Raw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029967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231136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2231136"/>
            <a:ext cx="109728" cy="475488"/>
          </a:xfrm>
          <a:prstGeom prst="rect">
            <a:avLst/>
          </a:prstGeom>
          <a:solidFill>
            <a:srgbClr val="AB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2258568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B4E4E"/>
                </a:solidFill>
                <a:latin typeface="Aptos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25856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88336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2889504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2889504"/>
            <a:ext cx="109728" cy="475488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2916936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04E74"/>
                </a:solidFill>
                <a:latin typeface="Aptos"/>
              </a:rPr>
              <a:t>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916936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346704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547872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0" y="3547872"/>
            <a:ext cx="109728" cy="475488"/>
          </a:xfrm>
          <a:prstGeom prst="rect">
            <a:avLst/>
          </a:prstGeom>
          <a:solidFill>
            <a:srgbClr val="41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17520" y="3575303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18163"/>
                </a:solidFill>
                <a:latin typeface="Aptos"/>
              </a:rPr>
              <a:t>PARQUET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575303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Analytical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00507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206240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0" y="4206240"/>
            <a:ext cx="109728" cy="475488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0" y="4233672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6A52A"/>
                </a:solidFill>
                <a:latin typeface="Aptos"/>
              </a:rPr>
              <a:t>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233672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Feature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663440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64607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0" y="4864607"/>
            <a:ext cx="109728" cy="475488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0" y="4892040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04E74"/>
                </a:solidFill>
                <a:latin typeface="Aptos"/>
              </a:rPr>
              <a:t>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892040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321807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5522976"/>
            <a:ext cx="6675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43200" y="5522976"/>
            <a:ext cx="109728" cy="475488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0" y="5550408"/>
            <a:ext cx="1920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1233A"/>
                </a:solidFill>
                <a:latin typeface="Aptos"/>
              </a:rPr>
              <a:t>WEB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5550408"/>
            <a:ext cx="4343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11233A"/>
                </a:solidFill>
                <a:latin typeface="Aptos"/>
              </a:rPr>
              <a:t>Application &amp;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Spark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Spark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Apache Spark + PySpark + Spark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2395728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7128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80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95728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31336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04488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395728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95544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68696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2395728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9752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2904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Joins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Joins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2395728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97112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2395728"/>
            <a:ext cx="2926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88168" y="2057400"/>
            <a:ext cx="1353312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61320" y="221284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4E74"/>
                </a:solidFill>
                <a:latin typeface="Aptos"/>
              </a:rPr>
              <a:t>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2578608"/>
            <a:ext cx="12070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87784"/>
                </a:solidFill>
                <a:latin typeface="Aptos"/>
              </a:rPr>
              <a:t>Storage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977639"/>
            <a:ext cx="2331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4114800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166s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672583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Ingestion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79" y="3977639"/>
            <a:ext cx="2331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49039" y="4114800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27s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672583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Quality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977639"/>
            <a:ext cx="2331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4114800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76s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672583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Cleaning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19" y="3977639"/>
            <a:ext cx="2331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0" y="4114800"/>
            <a:ext cx="2057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48s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672583"/>
            <a:ext cx="2057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Menu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Menu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Item classification does not rely on sales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28800"/>
            <a:ext cx="65836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02352" y="1828800"/>
            <a:ext cx="22860" cy="3474720"/>
          </a:xfrm>
          <a:prstGeom prst="rect">
            <a:avLst/>
          </a:prstGeom>
          <a:solidFill>
            <a:srgbClr val="687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3547872"/>
            <a:ext cx="6583680" cy="22860"/>
          </a:xfrm>
          <a:prstGeom prst="rect">
            <a:avLst/>
          </a:prstGeom>
          <a:solidFill>
            <a:srgbClr val="687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20574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4E74"/>
                </a:solidFill>
                <a:latin typeface="Aptos"/>
              </a:rPr>
              <a:t>Hidden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5740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18163"/>
                </a:solidFill>
                <a:latin typeface="Aptos"/>
              </a:rPr>
              <a:t>Profit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7947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B4E4E"/>
                </a:solidFill>
                <a:latin typeface="Aptos"/>
              </a:rPr>
              <a:t>Low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79476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6A52A"/>
                </a:solidFill>
                <a:latin typeface="Aptos"/>
              </a:rPr>
              <a:t>Volume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8288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1233A"/>
                </a:solidFill>
                <a:latin typeface="Aptos"/>
              </a:rPr>
              <a:t>150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4688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32F3B"/>
                </a:solidFill>
                <a:latin typeface="Aptos"/>
              </a:rPr>
              <a:t>52 Profit Driver
50 Low Performer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20040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32F3B"/>
                </a:solidFill>
                <a:latin typeface="Aptos"/>
              </a:rPr>
              <a:t>24 Hidden Opportunity
24 Volume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977639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6A52A"/>
                </a:solidFill>
                <a:latin typeface="Aptos"/>
              </a:rPr>
              <a:t>488 challenging cases
recorded for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Demand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Demand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Daily revenue forecasting while respecting time order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3375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361188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2"/>
            <a:ext cx="29535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67712"/>
            <a:ext cx="2953512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293 training days
73 test days
Chronological Split — prevents future leakage.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246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2971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36,693.07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86584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MAE — Mean Absolute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520440"/>
            <a:ext cx="3246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2971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53,189.87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15384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RMSE — Root Mean Squared Error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91640"/>
            <a:ext cx="3246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828800"/>
            <a:ext cx="2971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AB4E4E"/>
                </a:solidFill>
                <a:latin typeface="Aptos"/>
              </a:rPr>
              <a:t>28.98%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86584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MAPE — Mean Absolute Percentage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520440"/>
            <a:ext cx="32461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3520440"/>
            <a:ext cx="64008" cy="1783080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3685032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Result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096512"/>
            <a:ext cx="286207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The current model is simple and MAPE is high; therefore, the value is reported as is without exaggeration.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Spark MLlib — Machine Learning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Spark MLlib — Machine Learning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Three documented models and their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687784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00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03120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212848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4E74"/>
                </a:solidFill>
                <a:latin typeface="Aptos"/>
              </a:rPr>
              <a:t>0.6250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1284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4E74"/>
                </a:solidFill>
                <a:latin typeface="Aptos"/>
              </a:rPr>
              <a:t>0.6134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310128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1012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0.7500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310128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6A52A"/>
                </a:solidFill>
                <a:latin typeface="Aptos"/>
              </a:rPr>
              <a:t>0.7467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97679"/>
            <a:ext cx="1069848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407407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07407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4E74"/>
                </a:solidFill>
                <a:latin typeface="Aptos"/>
              </a:rPr>
              <a:t>0.7083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407407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04E74"/>
                </a:solidFill>
                <a:latin typeface="Aptos"/>
              </a:rPr>
              <a:t>0.6867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87784"/>
                </a:solidFill>
                <a:latin typeface="Aptos"/>
              </a:rPr>
              <a:t>Precision and Recall are also documented, and all 3/3 models were verified for loading and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Dual Pipeline — Independent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11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Dual Pipeline — Independent Tracks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Spark and Python must operate independently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48920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64008" cy="342900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4507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Spark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507992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232F3B"/>
                </a:solidFill>
                <a:latin typeface="Aptos"/>
              </a:rPr>
              <a:t>Apache Spark
PySpark
Spark SQL
Spark MLlib
Documented results from Students 1 and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783080"/>
            <a:ext cx="48920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1783080"/>
            <a:ext cx="64008" cy="342900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1947672"/>
            <a:ext cx="45079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Python Data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359152"/>
            <a:ext cx="4507992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232F3B"/>
                </a:solidFill>
                <a:latin typeface="Aptos"/>
              </a:rPr>
              <a:t>Python Data Science
Student 3 — Yousef
To be completed after his results are received.
No fabricated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971800"/>
            <a:ext cx="914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1233A"/>
                </a:solidFill>
                <a:latin typeface="Aptos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87784"/>
                </a:solidFill>
                <a:latin typeface="Aptos"/>
              </a:rPr>
              <a:t>Comparison: ID + Actual + Spark + Python + Match/Mismatch + Difference + Agreement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Restaurant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Restaurant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Analysis expands from the item to the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737360"/>
            <a:ext cx="64008" cy="141732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90195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RFM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737360"/>
            <a:ext cx="64008" cy="141732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190195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Basket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31343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Market Basket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737360"/>
            <a:ext cx="64008" cy="141732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190195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Wastage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31343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Waste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737360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1737360"/>
            <a:ext cx="64008" cy="141732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90888" y="190195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31343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Pricing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1187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611879"/>
            <a:ext cx="64008" cy="141732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77647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Promotion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18795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Promotions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361187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520440" y="3611879"/>
            <a:ext cx="64008" cy="141732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21608" y="377647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418795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Locations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61187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3611879"/>
            <a:ext cx="64008" cy="141732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8" y="377647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Anomaly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418795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Anomalies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3611879"/>
            <a:ext cx="24688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89720" y="3611879"/>
            <a:ext cx="64008" cy="141732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90888" y="3776472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Forecast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187952"/>
            <a:ext cx="208483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232F3B"/>
                </a:solidFill>
                <a:latin typeface="Aptos"/>
              </a:rPr>
              <a:t>Forecasting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13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The documented portion of Student 4's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0835640" cy="4251960"/>
          </a:xfrm>
          <a:prstGeom prst="round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874519"/>
            <a:ext cx="10469880" cy="3703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2103120"/>
            <a:ext cx="2011680" cy="3154680"/>
          </a:xfrm>
          <a:prstGeom prst="round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33172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1233A"/>
                </a:solidFill>
                <a:latin typeface="Aptos"/>
              </a:rPr>
              <a:t>DineIQ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8036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4E74"/>
                </a:solidFill>
                <a:latin typeface="Aptos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9184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87784"/>
                </a:solidFill>
                <a:latin typeface="Aptos"/>
              </a:rPr>
              <a:t>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87784"/>
                </a:solidFill>
                <a:latin typeface="Aptos"/>
              </a:rPr>
              <a:t>Menu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87784"/>
                </a:solidFill>
                <a:latin typeface="Aptos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262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87784"/>
                </a:solidFill>
                <a:latin typeface="Aptos"/>
              </a:rPr>
              <a:t>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2377440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35224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Revenue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2377440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418163"/>
                </a:solidFill>
                <a:latin typeface="Aptos"/>
              </a:rPr>
              <a:t>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935224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Profitability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377440"/>
            <a:ext cx="1737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AB4E4E"/>
                </a:solidFill>
                <a:latin typeface="Aptos"/>
              </a:rPr>
              <a:t>Waste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35224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Waste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840480"/>
            <a:ext cx="6309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29000" y="3840480"/>
            <a:ext cx="64008" cy="114300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0168" y="4005072"/>
            <a:ext cx="59253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Authentication + RBAC + Audit Trail +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4416552"/>
            <a:ext cx="5925312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32F3B"/>
                </a:solidFill>
                <a:latin typeface="Aptos"/>
              </a:rPr>
              <a:t>Authentication + Permissions + Audit Trail + CSV/XLSX Export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What-if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14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What-if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Scenario simulation separated from actual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0175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64008" cy="338328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01952"/>
            <a:ext cx="2633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Scenario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13432"/>
            <a:ext cx="2633472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232F3B"/>
                </a:solidFill>
                <a:latin typeface="Aptos"/>
              </a:rPr>
              <a:t>Increase the price
How might demand and profitability change?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737360"/>
            <a:ext cx="30175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737360"/>
            <a:ext cx="64008" cy="338328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1901952"/>
            <a:ext cx="2633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Scenario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313432"/>
            <a:ext cx="2633472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232F3B"/>
                </a:solidFill>
                <a:latin typeface="Aptos"/>
              </a:rPr>
              <a:t>Change the discount
Do sales increase while the margin declines?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737360"/>
            <a:ext cx="30175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737360"/>
            <a:ext cx="64008" cy="3383280"/>
          </a:xfrm>
          <a:prstGeom prst="rect">
            <a:avLst/>
          </a:prstGeom>
          <a:solidFill>
            <a:srgbClr val="41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8" y="1901952"/>
            <a:ext cx="2633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Scenario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313432"/>
            <a:ext cx="2633472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232F3B"/>
                </a:solidFill>
                <a:latin typeface="Aptos"/>
              </a:rPr>
              <a:t>Reduce preparation
Does waste decrease without harming demand?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AB4E4E"/>
                </a:solidFill>
                <a:latin typeface="Aptos"/>
              </a:rPr>
              <a:t>Important: What-if = an estimated simulation, not an actual record.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Testing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15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Testing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Accuracy alone is not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2240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6A52A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78024"/>
            <a:ext cx="2240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Quality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240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04E74"/>
                </a:solidFill>
                <a:latin typeface="Aptos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78024"/>
            <a:ext cx="2240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Integration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2240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418163"/>
                </a:solidFill>
                <a:latin typeface="Aptos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78024"/>
            <a:ext cx="2240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Feature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240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AB4E4E"/>
                </a:solidFill>
                <a:latin typeface="Aptos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78024"/>
            <a:ext cx="2240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233A"/>
                </a:solidFill>
                <a:latin typeface="Aptos"/>
              </a:rPr>
              <a:t>Auth/RBAC/Audit/Export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749039"/>
            <a:ext cx="4572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80160" y="3749039"/>
            <a:ext cx="64008" cy="1508760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1328" y="3913631"/>
            <a:ext cx="4187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25112"/>
            <a:ext cx="41879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32F3B"/>
                </a:solidFill>
                <a:latin typeface="Aptos"/>
              </a:rPr>
              <a:t>Authentication + RBAC +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49039"/>
            <a:ext cx="4572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749039"/>
            <a:ext cx="64008" cy="150876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3913631"/>
            <a:ext cx="4187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325112"/>
            <a:ext cx="4187952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32F3B"/>
                </a:solidFill>
                <a:latin typeface="Aptos"/>
              </a:rPr>
              <a:t>Minimize sensitive data and use appropriate permissions.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87784"/>
                </a:solidFill>
                <a:latin typeface="Aptos"/>
              </a:rPr>
              <a:t>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11233A"/>
                </a:solidFill>
                <a:latin typeface="Aptos"/>
              </a:rPr>
              <a:t>16</a:t>
            </a:r>
          </a:p>
        </p:txBody>
      </p:sp>
      <p:pic>
        <p:nvPicPr>
          <p:cNvPr id="6" name="Picture 5" descr="uni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09728"/>
            <a:ext cx="438912" cy="367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21792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500" b="1">
                <a:solidFill>
                  <a:srgbClr val="11233A"/>
                </a:solidFill>
                <a:latin typeface="Aptos"/>
              </a:rPr>
              <a:t>Project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6A52A"/>
                </a:solidFill>
                <a:latin typeface="Aptos"/>
              </a:rPr>
              <a:t>What we present now is what the evidence supports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34290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64008" cy="4023360"/>
          </a:xfrm>
          <a:prstGeom prst="rect">
            <a:avLst/>
          </a:prstGeom>
          <a:solidFill>
            <a:srgbClr val="418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2"/>
            <a:ext cx="3044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✓ Documented and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67712"/>
            <a:ext cx="304495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Dataset
Data Quality
Spark / Spark SQL
Feature Engineering
Menu Classification
Forecasting
Spark MLlib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290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64008" cy="4023360"/>
          </a:xfrm>
          <a:prstGeom prst="rect">
            <a:avLst/>
          </a:prstGeom>
          <a:solidFill>
            <a:srgbClr val="204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2"/>
            <a:ext cx="3044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✓ From Student 4's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267712"/>
            <a:ext cx="304495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0">
                <a:solidFill>
                  <a:srgbClr val="232F3B"/>
                </a:solidFill>
                <a:latin typeface="Aptos"/>
              </a:rPr>
              <a:t>Web Application
Authentication
RBAC
Audit Trail
Export
APIs
What-if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34290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691640"/>
            <a:ext cx="64008" cy="4023360"/>
          </a:xfrm>
          <a:prstGeom prst="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856232"/>
            <a:ext cx="304495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11233A"/>
                </a:solidFill>
                <a:latin typeface="Aptos"/>
              </a:rPr>
              <a:t>⏳ 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267712"/>
            <a:ext cx="304495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32F3B"/>
                </a:solidFill>
                <a:latin typeface="Aptos"/>
              </a:rPr>
              <a:t>Python Data Science
Customer Segmentation
RFM results
Market Basket results
Dual-Pipeline Comparison
Student 3 — Yousef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DineIQ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6A52A"/>
                </a:solidFill>
                <a:latin typeface="Aptos"/>
              </a:rPr>
              <a:t>From Data to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88920"/>
            <a:ext cx="9601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Dataset  →  Quality  →  Spark  →  Features  →  Intelligence  →  Models  → 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4297680"/>
            <a:ext cx="6172200" cy="731520"/>
          </a:xfrm>
          <a:prstGeom prst="roundRect">
            <a:avLst/>
          </a:prstGeom>
          <a:solidFill>
            <a:srgbClr val="D6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54680" y="4416552"/>
            <a:ext cx="5897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233A"/>
                </a:solidFill>
                <a:latin typeface="Aptos"/>
              </a:rPr>
              <a:t>Data Miners  |  Al-Nasser University  |  Aptech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800</Words>
  <Application>Microsoft Office PowerPoint</Application>
  <PresentationFormat>شاشة عريضة</PresentationFormat>
  <Paragraphs>262</Paragraphs>
  <Slides>17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>pc</dc:creator>
  <cp:keywords/>
  <dc:description>generated using python-pptx</dc:description>
  <cp:lastModifiedBy>rola mohmmed</cp:lastModifiedBy>
  <cp:revision>2</cp:revision>
  <dcterms:created xsi:type="dcterms:W3CDTF">2013-01-27T09:14:16Z</dcterms:created>
  <dcterms:modified xsi:type="dcterms:W3CDTF">2026-09-28T17:13:09Z</dcterms:modified>
  <cp:category/>
</cp:coreProperties>
</file>